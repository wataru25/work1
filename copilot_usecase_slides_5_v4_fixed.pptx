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745236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8E1016"/>
                </a:solidFill>
                <a:latin typeface="Yu Mincho"/>
              </a:rPr>
              <a:t>活用例① 早期警戒レポートの作成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749808"/>
            <a:ext cx="736092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Meiryo UI"/>
              </a:rPr>
              <a:t>大量の外部情報から、重要なリスクの兆候を効率的に整理</a:t>
            </a:r>
          </a:p>
        </p:txBody>
      </p:sp>
      <p:sp>
        <p:nvSpPr>
          <p:cNvPr id="4" name="Parallelogram 3"/>
          <p:cNvSpPr/>
          <p:nvPr/>
        </p:nvSpPr>
        <p:spPr>
          <a:xfrm rot="720000">
            <a:off x="7973568" y="0"/>
            <a:ext cx="109728" cy="1207008"/>
          </a:xfrm>
          <a:prstGeom prst="parallelogram">
            <a:avLst/>
          </a:prstGeom>
          <a:solidFill>
            <a:srgbClr val="F4CDCF"/>
          </a:solidFill>
          <a:ln>
            <a:solidFill>
              <a:srgbClr val="F4C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 rot="720000">
            <a:off x="8202168" y="0"/>
            <a:ext cx="109728" cy="1207008"/>
          </a:xfrm>
          <a:prstGeom prst="parallelogram">
            <a:avLst/>
          </a:prstGeom>
          <a:solidFill>
            <a:srgbClr val="D55960"/>
          </a:solidFill>
          <a:ln>
            <a:solidFill>
              <a:srgbClr val="D5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 rot="720000">
            <a:off x="8449056" y="0"/>
            <a:ext cx="109728" cy="1207008"/>
          </a:xfrm>
          <a:prstGeom prst="parallelogram">
            <a:avLst/>
          </a:prstGeom>
          <a:solidFill>
            <a:srgbClr val="A7131A"/>
          </a:solidFill>
          <a:ln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0" y="1271016"/>
            <a:ext cx="9144000" cy="0"/>
          </a:xfrm>
          <a:prstGeom prst="line">
            <a:avLst/>
          </a:prstGeom>
          <a:ln w="13970">
            <a:solidFill>
              <a:srgbClr val="A71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376672" y="1572768"/>
            <a:ext cx="3493008" cy="1417320"/>
          </a:xfrm>
          <a:prstGeom prst="rect">
            <a:avLst/>
          </a:prstGeom>
          <a:solidFill>
            <a:srgbClr val="FFFFFF"/>
          </a:solidFill>
          <a:ln w="11430"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2" y="1572768"/>
            <a:ext cx="3493008" cy="347472"/>
          </a:xfrm>
          <a:prstGeom prst="rect">
            <a:avLst/>
          </a:prstGeom>
          <a:solidFill>
            <a:srgbClr val="A7131A"/>
          </a:solidFill>
          <a:ln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1623060"/>
            <a:ext cx="327355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0" b="1">
                <a:solidFill>
                  <a:srgbClr val="FFFFFF"/>
                </a:solidFill>
                <a:latin typeface="Meiryo UI"/>
              </a:rPr>
              <a:t>アウトプットに対する評価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41264" y="1956816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50" b="1">
                <a:solidFill>
                  <a:srgbClr val="A7131A"/>
                </a:solidFill>
                <a:latin typeface="Meiryo UI"/>
              </a:rPr>
              <a:t>情報収集・構造化には有効</a:t>
            </a:r>
          </a:p>
          <a:p>
            <a:r>
              <a:rPr sz="1550" b="1">
                <a:solidFill>
                  <a:srgbClr val="A7131A"/>
                </a:solidFill>
                <a:latin typeface="Meiryo UI"/>
              </a:rPr>
              <a:t>実務利用には追加分析が必要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1264" y="2450592"/>
            <a:ext cx="31638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40" b="0">
                <a:solidFill>
                  <a:srgbClr val="414141"/>
                </a:solidFill>
                <a:latin typeface="Meiryo UI"/>
              </a:rPr>
              <a:t>影響経路は構造的に整理できたが、当社にとっての重要度や対応要否の判断には人によるレビューが必要。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76672" y="3246120"/>
            <a:ext cx="3493008" cy="1508760"/>
          </a:xfrm>
          <a:prstGeom prst="rect">
            <a:avLst/>
          </a:prstGeom>
          <a:solidFill>
            <a:srgbClr val="FFFFFF"/>
          </a:solidFill>
          <a:ln w="11430"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76672" y="3246120"/>
            <a:ext cx="3493008" cy="347472"/>
          </a:xfrm>
          <a:prstGeom prst="rect">
            <a:avLst/>
          </a:prstGeom>
          <a:solidFill>
            <a:srgbClr val="A7131A"/>
          </a:solidFill>
          <a:ln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3296412"/>
            <a:ext cx="327355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0" b="1">
                <a:solidFill>
                  <a:srgbClr val="FFFFFF"/>
                </a:solidFill>
                <a:latin typeface="Meiryo UI"/>
              </a:rPr>
              <a:t>良かった点・気づき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685032"/>
            <a:ext cx="312724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1060" b="0">
                <a:solidFill>
                  <a:srgbClr val="414141"/>
                </a:solidFill>
                <a:latin typeface="Meiryo UI"/>
              </a:rPr>
              <a:t>• 幅広い情報源を短時間で調査できる</a:t>
            </a:r>
          </a:p>
          <a:p>
            <a:r>
              <a:rPr sz="1060" b="0">
                <a:solidFill>
                  <a:srgbClr val="414141"/>
                </a:solidFill>
                <a:latin typeface="Meiryo UI"/>
              </a:rPr>
              <a:t>• 大量の情報をテーマ・リスク別に整理できる</a:t>
            </a:r>
          </a:p>
          <a:p>
            <a:r>
              <a:rPr sz="1060" b="0">
                <a:solidFill>
                  <a:srgbClr val="414141"/>
                </a:solidFill>
                <a:latin typeface="Meiryo UI"/>
              </a:rPr>
              <a:t>• 見落としやすいニュースも拾える</a:t>
            </a:r>
          </a:p>
          <a:p>
            <a:r>
              <a:rPr sz="1060" b="0">
                <a:solidFill>
                  <a:srgbClr val="414141"/>
                </a:solidFill>
                <a:latin typeface="Meiryo UI"/>
              </a:rPr>
              <a:t>• 複数ニュースのつながりを把握しやすい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76672" y="5047488"/>
            <a:ext cx="3493008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2" y="5047488"/>
            <a:ext cx="3493008" cy="347472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0" y="5097779"/>
            <a:ext cx="327355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30" b="1">
                <a:solidFill>
                  <a:srgbClr val="FFFFFF"/>
                </a:solidFill>
                <a:latin typeface="Meiryo UI"/>
              </a:rPr>
              <a:t>課題点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5440680"/>
            <a:ext cx="3127248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30" b="0">
                <a:solidFill>
                  <a:srgbClr val="414141"/>
                </a:solidFill>
                <a:latin typeface="Meiryo UI"/>
              </a:rPr>
              <a:t>• 重要度判断が当社視点とずれる場合がある</a:t>
            </a:r>
          </a:p>
          <a:p>
            <a:r>
              <a:rPr sz="930" b="0">
                <a:solidFill>
                  <a:srgbClr val="414141"/>
                </a:solidFill>
                <a:latin typeface="Meiryo UI"/>
              </a:rPr>
              <a:t>• 具体的な影響度・対応要否の評価は弱い</a:t>
            </a:r>
          </a:p>
          <a:p>
            <a:r>
              <a:rPr sz="930" b="0">
                <a:solidFill>
                  <a:srgbClr val="414141"/>
                </a:solidFill>
                <a:latin typeface="Meiryo UI"/>
              </a:rPr>
              <a:t>• 社内データ・エクスポージャーとの接続が必要</a:t>
            </a:r>
          </a:p>
          <a:p>
            <a:r>
              <a:rPr sz="930" b="0">
                <a:solidFill>
                  <a:srgbClr val="414141"/>
                </a:solidFill>
                <a:latin typeface="Meiryo UI"/>
              </a:rPr>
              <a:t>• 出典・最新性・事実関係の確認が必要</a:t>
            </a:r>
          </a:p>
          <a:p>
            <a:r>
              <a:rPr sz="930" b="0">
                <a:solidFill>
                  <a:srgbClr val="414141"/>
                </a:solidFill>
                <a:latin typeface="Meiryo UI"/>
              </a:rPr>
              <a:t>• プロンプトにより出力品質が変わる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1527048"/>
            <a:ext cx="47548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A7131A"/>
                </a:solidFill>
                <a:latin typeface="Yu Mincho"/>
              </a:rPr>
              <a:t>Copilotを活用した作業の流れ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" y="1865376"/>
            <a:ext cx="48463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2608" y="1865376"/>
            <a:ext cx="475488" cy="914400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" y="2176272"/>
            <a:ext cx="4297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6" y="1975104"/>
            <a:ext cx="694944" cy="201168"/>
          </a:xfrm>
          <a:prstGeom prst="roundRect">
            <a:avLst/>
          </a:prstGeom>
          <a:solidFill>
            <a:srgbClr val="E8E8E8"/>
          </a:solidFill>
          <a:ln w="25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" y="1993392"/>
            <a:ext cx="6949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4A4A4A"/>
                </a:solidFill>
                <a:latin typeface="Meiryo UI"/>
              </a:rPr>
              <a:t>手作業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" y="2212848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Meiryo UI"/>
              </a:rPr>
              <a:t>社内データの用意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" y="2468880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535353"/>
                </a:solidFill>
                <a:latin typeface="Meiryo UI"/>
              </a:rPr>
              <a:t>対象会社・社内前提・確認したい観点を整理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8808" y="1865376"/>
            <a:ext cx="960120" cy="914400"/>
          </a:xfrm>
          <a:prstGeom prst="rect">
            <a:avLst/>
          </a:prstGeom>
          <a:solidFill>
            <a:srgbClr val="F2F2F2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8536" y="2048256"/>
            <a:ext cx="74066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A4A4A"/>
                </a:solidFill>
                <a:latin typeface="Meiryo UI"/>
              </a:rPr>
              <a:t>所要時間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2313432"/>
            <a:ext cx="7772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50" b="1">
                <a:solidFill>
                  <a:srgbClr val="4A4A4A"/>
                </a:solidFill>
                <a:latin typeface="Yu Mincho"/>
              </a:rPr>
              <a:t>10分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" y="2889504"/>
            <a:ext cx="48463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2608" y="2889504"/>
            <a:ext cx="475488" cy="914400"/>
          </a:xfrm>
          <a:prstGeom prst="rect">
            <a:avLst/>
          </a:prstGeom>
          <a:solidFill>
            <a:srgbClr val="A7131A"/>
          </a:solidFill>
          <a:ln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" y="3200400"/>
            <a:ext cx="4297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0976" y="2999232"/>
            <a:ext cx="694944" cy="201168"/>
          </a:xfrm>
          <a:prstGeom prst="roundRect">
            <a:avLst/>
          </a:prstGeom>
          <a:solidFill>
            <a:srgbClr val="F8E8E9"/>
          </a:solidFill>
          <a:ln w="2540">
            <a:solidFill>
              <a:srgbClr val="F8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" y="3017520"/>
            <a:ext cx="6949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A7131A"/>
                </a:solidFill>
                <a:latin typeface="Meiryo UI"/>
              </a:rPr>
              <a:t>Copilot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" y="3236976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Meiryo UI"/>
              </a:rPr>
              <a:t>外部情報の調査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" y="3493008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535353"/>
                </a:solidFill>
                <a:latin typeface="Meiryo UI"/>
              </a:rPr>
              <a:t>公開情報・ニュース等を対象に関連情報を調査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78808" y="2889504"/>
            <a:ext cx="960120" cy="914400"/>
          </a:xfrm>
          <a:prstGeom prst="rect">
            <a:avLst/>
          </a:prstGeom>
          <a:solidFill>
            <a:srgbClr val="FCF2F2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8536" y="3072384"/>
            <a:ext cx="74066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7131A"/>
                </a:solidFill>
                <a:latin typeface="Meiryo UI"/>
              </a:rPr>
              <a:t>所要時間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70248" y="3337560"/>
            <a:ext cx="7772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50" b="1">
                <a:solidFill>
                  <a:srgbClr val="A7131A"/>
                </a:solidFill>
                <a:latin typeface="Yu Mincho"/>
              </a:rPr>
              <a:t>30分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" y="3913632"/>
            <a:ext cx="48463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2608" y="3913632"/>
            <a:ext cx="475488" cy="914400"/>
          </a:xfrm>
          <a:prstGeom prst="rect">
            <a:avLst/>
          </a:prstGeom>
          <a:solidFill>
            <a:srgbClr val="A7131A"/>
          </a:solidFill>
          <a:ln>
            <a:solidFill>
              <a:srgbClr val="A71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0896" y="4224528"/>
            <a:ext cx="4297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" y="4023360"/>
            <a:ext cx="694944" cy="201168"/>
          </a:xfrm>
          <a:prstGeom prst="roundRect">
            <a:avLst/>
          </a:prstGeom>
          <a:solidFill>
            <a:srgbClr val="F8E8E9"/>
          </a:solidFill>
          <a:ln w="2540">
            <a:solidFill>
              <a:srgbClr val="F8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6" y="4041648"/>
            <a:ext cx="6949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A7131A"/>
                </a:solidFill>
                <a:latin typeface="Meiryo UI"/>
              </a:rPr>
              <a:t>Copilot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" y="4261104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Meiryo UI"/>
              </a:rPr>
              <a:t>レポート形式への整理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0976" y="4517136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535353"/>
                </a:solidFill>
                <a:latin typeface="Meiryo UI"/>
              </a:rPr>
              <a:t>調査結果を要約し、リスク分類・影響経路を整理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8808" y="3913632"/>
            <a:ext cx="960120" cy="914400"/>
          </a:xfrm>
          <a:prstGeom prst="rect">
            <a:avLst/>
          </a:prstGeom>
          <a:solidFill>
            <a:srgbClr val="FCF2F2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88536" y="4096512"/>
            <a:ext cx="74066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7131A"/>
                </a:solidFill>
                <a:latin typeface="Meiryo UI"/>
              </a:rPr>
              <a:t>所要時間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0248" y="4361688"/>
            <a:ext cx="7772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50" b="1">
                <a:solidFill>
                  <a:srgbClr val="A7131A"/>
                </a:solidFill>
                <a:latin typeface="Yu Mincho"/>
              </a:rPr>
              <a:t>25分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92608" y="4937760"/>
            <a:ext cx="484632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2608" y="4937760"/>
            <a:ext cx="475488" cy="914400"/>
          </a:xfrm>
          <a:prstGeom prst="rect">
            <a:avLst/>
          </a:prstGeom>
          <a:solidFill>
            <a:srgbClr val="4A4A4A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0896" y="5248656"/>
            <a:ext cx="429768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6" y="5047488"/>
            <a:ext cx="694944" cy="201168"/>
          </a:xfrm>
          <a:prstGeom prst="roundRect">
            <a:avLst/>
          </a:prstGeom>
          <a:solidFill>
            <a:srgbClr val="E8E8E8"/>
          </a:solidFill>
          <a:ln w="254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0976" y="5065776"/>
            <a:ext cx="694944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4A4A4A"/>
                </a:solidFill>
                <a:latin typeface="Meiryo UI"/>
              </a:rPr>
              <a:t>手作業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0976" y="5285232"/>
            <a:ext cx="30175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C1C1C"/>
                </a:solidFill>
                <a:latin typeface="Meiryo UI"/>
              </a:rPr>
              <a:t>人間のセンサー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976" y="5541264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535353"/>
                </a:solidFill>
                <a:latin typeface="Meiryo UI"/>
              </a:rPr>
              <a:t>違和感・重要度・当社影響を人が確認し補正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78808" y="4937760"/>
            <a:ext cx="960120" cy="914400"/>
          </a:xfrm>
          <a:prstGeom prst="rect">
            <a:avLst/>
          </a:prstGeom>
          <a:solidFill>
            <a:srgbClr val="F2F2F2"/>
          </a:solidFill>
          <a:ln w="7620">
            <a:solidFill>
              <a:srgbClr val="D6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88536" y="5120640"/>
            <a:ext cx="740664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A4A4A"/>
                </a:solidFill>
                <a:latin typeface="Meiryo UI"/>
              </a:rPr>
              <a:t>所要時間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70248" y="5385816"/>
            <a:ext cx="7772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50" b="1">
                <a:solidFill>
                  <a:srgbClr val="4A4A4A"/>
                </a:solidFill>
                <a:latin typeface="Yu Mincho"/>
              </a:rPr>
              <a:t>15分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92608" y="6007608"/>
            <a:ext cx="4846320" cy="329184"/>
          </a:xfrm>
          <a:prstGeom prst="roundRect">
            <a:avLst/>
          </a:prstGeom>
          <a:solidFill>
            <a:srgbClr val="FCF5F5"/>
          </a:solidFill>
          <a:ln w="7620">
            <a:solidFill>
              <a:srgbClr val="F8E8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6080760"/>
            <a:ext cx="452628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A7131A"/>
                </a:solidFill>
                <a:latin typeface="Meiryo UI"/>
              </a:rPr>
              <a:t>社内データの用意と人間のセンサーは人が担い、調査・整理はCopilotが支援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146304" cy="1216152"/>
          </a:xfrm>
          <a:prstGeom prst="parallelogram">
            <a:avLst/>
          </a:prstGeom>
          <a:solidFill>
            <a:srgbClr val="F4CDCF"/>
          </a:solidFill>
          <a:ln w="12700">
            <a:solidFill>
              <a:srgbClr val="F4CD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146304" cy="1216152"/>
          </a:xfrm>
          <a:prstGeom prst="parallelogram">
            <a:avLst/>
          </a:prstGeom>
          <a:solidFill>
            <a:srgbClr val="D55960"/>
          </a:solidFill>
          <a:ln w="12700">
            <a:solidFill>
              <a:srgbClr val="D559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146304" cy="1216152"/>
          </a:xfrm>
          <a:prstGeom prst="parallelogram">
            <a:avLst/>
          </a:prstGeom>
          <a:solidFill>
            <a:srgbClr val="A7131A"/>
          </a:solidFill>
          <a:ln w="12700">
            <a:solidFill>
              <a:srgbClr val="A713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46888"/>
            <a:ext cx="7406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活用例② 過去事例・類似事例の整理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7406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過去の事例を横断的に比較し、今回の検討に活かせる示唆を整理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9144000" cy="0"/>
          </a:xfrm>
          <a:prstGeom prst="line">
            <a:avLst/>
          </a:prstGeom>
          <a:noFill/>
          <a:ln w="13970">
            <a:solidFill>
              <a:srgbClr val="A71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17904"/>
            <a:ext cx="4800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Copilotを活用した作業の流れ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984248" y="1673352"/>
            <a:ext cx="3017520" cy="0"/>
          </a:xfrm>
          <a:prstGeom prst="line">
            <a:avLst/>
          </a:prstGeom>
          <a:noFill/>
          <a:ln w="7620">
            <a:solidFill>
              <a:srgbClr val="E9C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87452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7452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3544" y="192024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調査対象・比較軸の設定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対象事例・期間・比較観点を整理し、調査条件を指定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05656" y="187452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78808" y="194767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269748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9748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" y="274320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過去事例の収集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ニュース・公開資料等から類似事例を幅広く収集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656" y="269748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78808" y="277063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15分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" y="352044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52044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" y="356616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類似点・相違点の整理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原因・影響・対応・結果を比較し、共通点と差異を整理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05656" y="352044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78808" y="359359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" y="434340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4340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" y="438912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示唆の抽出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今回の検討に活かせる教訓や注意点を要点化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656" y="434340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78808" y="441655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" y="516636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16636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23544" y="521208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レビュー・仕上げ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比較結果の妥当性を確認し、共有しやすい形に整える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05656" y="516636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523951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1591056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アウトプットに対する評価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376672" y="1956816"/>
            <a:ext cx="3493008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084832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比較のたたき台として有用
</a:t>
            </a:r>
            <a:pPr algn="l" indent="0" marL="0">
              <a:buNone/>
            </a:pPr>
            <a:r>
              <a:rPr lang="en-US" sz="107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類似事例が整理され、検討時に参照すべき観点を短時間で把握できた。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3136392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良かった点・気づき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376672" y="3502152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639312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・短時間で多くの事例を俯瞰できた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・自分では見落としていた参考事例にも到達できた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・比較軸をそろえることで論点が見えやすくなった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・今回の検討に活かせる示唆を抽出しやすかった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5376672" y="4818888"/>
            <a:ext cx="3493008" cy="365760"/>
          </a:xfrm>
          <a:prstGeom prst="rect">
            <a:avLst/>
          </a:prstGeom>
          <a:solidFill>
            <a:srgbClr val="4A4A4A"/>
          </a:solidFill>
          <a:ln w="10160">
            <a:solidFill>
              <a:srgbClr val="4A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課題点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376672" y="5184648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4A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5321808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・事例ごとの前提条件が異なるため単純比較は難しい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・古い情報や二次情報は出典確認が必要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・表面的な類似だけで判断しない注意が必要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・最終的な解釈は人による補足が必要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146304" cy="1216152"/>
          </a:xfrm>
          <a:prstGeom prst="parallelogram">
            <a:avLst/>
          </a:prstGeom>
          <a:solidFill>
            <a:srgbClr val="F4CDCF"/>
          </a:solidFill>
          <a:ln w="12700">
            <a:solidFill>
              <a:srgbClr val="F4CD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146304" cy="1216152"/>
          </a:xfrm>
          <a:prstGeom prst="parallelogram">
            <a:avLst/>
          </a:prstGeom>
          <a:solidFill>
            <a:srgbClr val="D55960"/>
          </a:solidFill>
          <a:ln w="12700">
            <a:solidFill>
              <a:srgbClr val="D559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146304" cy="1216152"/>
          </a:xfrm>
          <a:prstGeom prst="parallelogram">
            <a:avLst/>
          </a:prstGeom>
          <a:solidFill>
            <a:srgbClr val="A7131A"/>
          </a:solidFill>
          <a:ln w="12700">
            <a:solidFill>
              <a:srgbClr val="A713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46888"/>
            <a:ext cx="7406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活用例③ 論点整理・比較検討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7406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複雑な論点を整理し、比較・検討の土台を効率的に作成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9144000" cy="0"/>
          </a:xfrm>
          <a:prstGeom prst="line">
            <a:avLst/>
          </a:prstGeom>
          <a:noFill/>
          <a:ln w="13970">
            <a:solidFill>
              <a:srgbClr val="A71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17904"/>
            <a:ext cx="4800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Copilotを活用した作業の流れ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984248" y="1673352"/>
            <a:ext cx="3017520" cy="0"/>
          </a:xfrm>
          <a:prstGeom prst="line">
            <a:avLst/>
          </a:prstGeom>
          <a:noFill/>
          <a:ln w="7620">
            <a:solidFill>
              <a:srgbClr val="E9C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87452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7452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3544" y="192024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テーマ・前提条件の整理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検討テーマ・前提・比較対象を明確にして指示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05656" y="187452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78808" y="194767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269748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9748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" y="274320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論点の洗い出し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メリット・デメリット・リスク・実務影響を抽出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656" y="269748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78808" y="277063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15分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" y="352044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52044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" y="356616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比較・構造化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論点ごとに整理し、案ごとの差や抜け漏れを可視化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05656" y="352044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78808" y="359359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" y="434340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4340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" y="438912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示唆・確認事項の整理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判断材料と追加で確認すべき事項を要約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656" y="434340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78808" y="441655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" y="516636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16636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23544" y="521208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レビュー・仕上げ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論理の飛躍や前提の漏れを確認し、共有用に整える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05656" y="516636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523951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1591056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アウトプットに対する評価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376672" y="1956816"/>
            <a:ext cx="3493008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084832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壁打ち相手として有効
</a:t>
            </a:r>
            <a:pPr algn="l" indent="0" marL="0">
              <a:buNone/>
            </a:pPr>
            <a:r>
              <a:rPr lang="en-US" sz="107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複数の観点から論点が整理され、比較検討の出発点として活用できた。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3136392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良かった点・気づき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376672" y="3502152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639312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・検討観点の抜け漏れを減らしやすい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・賛成・反対の両面から論点を出しやすい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・比較対象ごとの差異が見えやすくなった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・追加で確認すべき事項を整理しやすい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5376672" y="4818888"/>
            <a:ext cx="3493008" cy="365760"/>
          </a:xfrm>
          <a:prstGeom prst="rect">
            <a:avLst/>
          </a:prstGeom>
          <a:solidFill>
            <a:srgbClr val="4A4A4A"/>
          </a:solidFill>
          <a:ln w="10160">
            <a:solidFill>
              <a:srgbClr val="4A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課題点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376672" y="5184648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4A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5321808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・前提条件が曖昧だと出力がぶれやすい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・専門的判断は人による確認が必要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・妥当性の高い結論には追加調査が必要な場合がある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・最終判断をAIに委ねない運用が必要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146304" cy="1216152"/>
          </a:xfrm>
          <a:prstGeom prst="parallelogram">
            <a:avLst/>
          </a:prstGeom>
          <a:solidFill>
            <a:srgbClr val="F4CDCF"/>
          </a:solidFill>
          <a:ln w="12700">
            <a:solidFill>
              <a:srgbClr val="F4CD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146304" cy="1216152"/>
          </a:xfrm>
          <a:prstGeom prst="parallelogram">
            <a:avLst/>
          </a:prstGeom>
          <a:solidFill>
            <a:srgbClr val="D55960"/>
          </a:solidFill>
          <a:ln w="12700">
            <a:solidFill>
              <a:srgbClr val="D559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146304" cy="1216152"/>
          </a:xfrm>
          <a:prstGeom prst="parallelogram">
            <a:avLst/>
          </a:prstGeom>
          <a:solidFill>
            <a:srgbClr val="A7131A"/>
          </a:solidFill>
          <a:ln w="12700">
            <a:solidFill>
              <a:srgbClr val="A713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46888"/>
            <a:ext cx="7406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活用例④ PowerPoint資料の作成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7406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メモや既存資料をもとに、説明資料のたたき台を効率的に作成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9144000" cy="0"/>
          </a:xfrm>
          <a:prstGeom prst="line">
            <a:avLst/>
          </a:prstGeom>
          <a:noFill/>
          <a:ln w="13970">
            <a:solidFill>
              <a:srgbClr val="A71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17904"/>
            <a:ext cx="4800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Copilotを活用した作業の流れ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984248" y="1673352"/>
            <a:ext cx="3017520" cy="0"/>
          </a:xfrm>
          <a:prstGeom prst="line">
            <a:avLst/>
          </a:prstGeom>
          <a:noFill/>
          <a:ln w="7620">
            <a:solidFill>
              <a:srgbClr val="E9C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87452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7452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3544" y="192024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素材・目的の整理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説明テーマ・対象者・既存資料やメモを整理して指示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05656" y="187452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78808" y="194767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269748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9748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" y="274320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構成案の作成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スライドの流れや章立てを作成し、伝える順序を整理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656" y="269748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78808" y="277063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15分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" y="352044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52044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" y="356616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各スライドの文章化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見出し・要点・説明文を作成し、たたき台を整備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05656" y="352044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78808" y="359359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" y="434340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4340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" y="438912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表現・構成の調整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文章量や分かりやすさを調整し、説明資料として整える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656" y="434340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78808" y="441655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" y="516636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16636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23544" y="521208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レビュー・仕上げ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内容と表現を確認し、最終資料に向けて仕上げる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05656" y="516636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523951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1591056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アウトプットに対する評価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376672" y="1956816"/>
            <a:ext cx="3493008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084832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初稿作成には十分有効
</a:t>
            </a:r>
            <a:pPr algn="l" indent="0" marL="0">
              <a:buNone/>
            </a:pPr>
            <a:r>
              <a:rPr lang="en-US" sz="107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スライド構成と文章のたたき台を短時間で作成でき、初動を大きく効率化できた。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3136392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良かった点・気づき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376672" y="3502152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639312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・構成案の作成が速く、ゼロから考える負担が減った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・説明の流れを短時間で整理できた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・たたき台があるためレビューに集中しやすい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・既存資料の言い換えや要約にも使いやすい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5376672" y="4818888"/>
            <a:ext cx="3493008" cy="365760"/>
          </a:xfrm>
          <a:prstGeom prst="rect">
            <a:avLst/>
          </a:prstGeom>
          <a:solidFill>
            <a:srgbClr val="4A4A4A"/>
          </a:solidFill>
          <a:ln w="10160">
            <a:solidFill>
              <a:srgbClr val="4A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課題点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376672" y="5184648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4A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5321808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・細かな表現やニュアンスの調整は人手が必要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・社内向けの作法やフォーマットへの適合が必要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・図表やレイアウトの最終調整は別途必要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・メッセージの強弱は人が最終判断すべき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146304" cy="1216152"/>
          </a:xfrm>
          <a:prstGeom prst="parallelogram">
            <a:avLst/>
          </a:prstGeom>
          <a:solidFill>
            <a:srgbClr val="F4CDCF"/>
          </a:solidFill>
          <a:ln w="12700">
            <a:solidFill>
              <a:srgbClr val="F4CDC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146304" cy="1216152"/>
          </a:xfrm>
          <a:prstGeom prst="parallelogram">
            <a:avLst/>
          </a:prstGeom>
          <a:solidFill>
            <a:srgbClr val="D55960"/>
          </a:solidFill>
          <a:ln w="12700">
            <a:solidFill>
              <a:srgbClr val="D559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146304" cy="1216152"/>
          </a:xfrm>
          <a:prstGeom prst="parallelogram">
            <a:avLst/>
          </a:prstGeom>
          <a:solidFill>
            <a:srgbClr val="A7131A"/>
          </a:solidFill>
          <a:ln w="12700">
            <a:solidFill>
              <a:srgbClr val="A713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246888"/>
            <a:ext cx="7406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活用例⑤ 会議支援・議事録作成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92608" y="749808"/>
            <a:ext cx="7406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会議内容の整理から議事録・To Do作成までを効率的に支援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9144000" cy="0"/>
          </a:xfrm>
          <a:prstGeom prst="line">
            <a:avLst/>
          </a:prstGeom>
          <a:noFill/>
          <a:ln w="13970">
            <a:solidFill>
              <a:srgbClr val="A71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517904"/>
            <a:ext cx="4800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8E10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Copilotを活用した作業の流れ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984248" y="1673352"/>
            <a:ext cx="3017520" cy="0"/>
          </a:xfrm>
          <a:prstGeom prst="line">
            <a:avLst/>
          </a:prstGeom>
          <a:noFill/>
          <a:ln w="7620">
            <a:solidFill>
              <a:srgbClr val="E9C6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87452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7452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3544" y="192024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会議目的・論点の整理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目的・参加者・確認したい論点を整理して準備する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05656" y="187452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78808" y="194767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" y="269748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9748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544" y="274320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会議内容の整理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議論の要点・発言内容・決定事項候補を整理する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05656" y="269748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78808" y="277063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15分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" y="352044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52044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3544" y="356616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議事録の作成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会議概要・主要論点・決定事項を議事録形式にまとめる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05656" y="352044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78808" y="359359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" y="434340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34340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3544" y="438912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 Do・未決事項の整理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担当者・対応事項・次回確認事項を抽出して整理する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05656" y="434340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78808" y="441655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10分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8096" y="5166360"/>
            <a:ext cx="4279392" cy="722376"/>
          </a:xfrm>
          <a:prstGeom prst="rect">
            <a:avLst/>
          </a:prstGeom>
          <a:solidFill>
            <a:srgbClr val="FFFFFF"/>
          </a:solidFill>
          <a:ln w="825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5166360"/>
            <a:ext cx="475488" cy="722376"/>
          </a:xfrm>
          <a:prstGeom prst="rect">
            <a:avLst/>
          </a:prstGeom>
          <a:solidFill>
            <a:srgbClr val="A7131A"/>
          </a:solidFill>
          <a:ln w="8255">
            <a:solidFill>
              <a:srgbClr val="A713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23544" y="5212080"/>
            <a:ext cx="3127248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2020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レビュー・共有
</a:t>
            </a:r>
            <a:pPr algn="l" indent="0" marL="0">
              <a:buNone/>
            </a:pPr>
            <a:r>
              <a:rPr lang="en-US" sz="93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記載内容を確認し、関係者に共有できる形に仕上げる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05656" y="5166360"/>
            <a:ext cx="941832" cy="722376"/>
          </a:xfrm>
          <a:prstGeom prst="rect">
            <a:avLst/>
          </a:prstGeom>
          <a:solidFill>
            <a:srgbClr val="FCF5F5"/>
          </a:solidFill>
          <a:ln w="8255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5239512"/>
            <a:ext cx="7955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131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
</a:t>
            </a:r>
            <a:pPr algn="ctr" indent="0" marL="0">
              <a:buNone/>
            </a:pPr>
            <a:r>
              <a:rPr lang="en-US" sz="24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1591056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アウトプットに対する評価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376672" y="1956816"/>
            <a:ext cx="3493008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41264" y="2084832"/>
            <a:ext cx="3163824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131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会議後業務の効率化に有効
</a:t>
            </a:r>
            <a:pPr algn="l" indent="0" marL="0">
              <a:buNone/>
            </a:pPr>
            <a:r>
              <a:rPr lang="en-US" sz="107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議事録とTo Doのたたき台を短時間で作成でき、会議後の整理負荷を軽減できた。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3136392"/>
            <a:ext cx="3493008" cy="365760"/>
          </a:xfrm>
          <a:prstGeom prst="rect">
            <a:avLst/>
          </a:prstGeom>
          <a:solidFill>
            <a:srgbClr val="A7131A"/>
          </a:solidFill>
          <a:ln w="10160">
            <a:solidFill>
              <a:srgbClr val="A7131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良かった点・気づき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376672" y="3502152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A71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3639312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・議論の要点を素早く整理しやすい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・決定事項と未決事項を分けて把握しやすい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・To Doの洗い出しがしやすく、次の行動につながる</a:t>
            </a:r>
            <a:endParaRPr lang="en-US" sz="10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・共有用の議事録作成を効率化できた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5376672" y="4818888"/>
            <a:ext cx="3493008" cy="365760"/>
          </a:xfrm>
          <a:prstGeom prst="rect">
            <a:avLst/>
          </a:prstGeom>
          <a:solidFill>
            <a:srgbClr val="4A4A4A"/>
          </a:solidFill>
          <a:ln w="10160">
            <a:solidFill>
              <a:srgbClr val="4A4A4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課題点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5376672" y="5184648"/>
            <a:ext cx="3493008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4A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5321808"/>
            <a:ext cx="310896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・文脈やニュアンスの取り違えに注意が必要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・発言の重要度判断は人の確認が必要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・機密性の高い会議では取扱いに留意が必要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41414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・最終的な議事録確定は参加者レビューが必要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Minch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活用例</dc:title>
  <dc:subject>Microsoft Copilot 活用例</dc:subject>
  <dc:creator>OpenAI</dc:creator>
  <cp:lastModifiedBy>OpenAI</cp:lastModifiedBy>
  <cp:revision>1</cp:revision>
  <dcterms:created xsi:type="dcterms:W3CDTF">2026-09-06T01:53:19Z</dcterms:created>
  <dcterms:modified xsi:type="dcterms:W3CDTF">2026-09-06T01:53:19Z</dcterms:modified>
</cp:coreProperties>
</file>